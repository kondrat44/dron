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Введение" id="{4170bb13-64cf-ea43-80a5-8cbb7c2622aa}">
          <p14:sldIdLst>
            <p14:sldId id="256"/>
            <p14:sldId id="257"/>
          </p14:sldIdLst>
        </p14:section>
        <p14:section name="Дрон" id="{3475f365-1bc5-8b3d-ebff-78ef28e8fc58}">
          <p14:sldIdLst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</p14:sldIdLst>
        </p14:section>
        <p14:section name="Полёт" id="{593ed427-8d21-c83b-b355-d68406168ac1}">
          <p14:sldIdLst>
            <p14:sldId id="269"/>
          </p14:sldIdLst>
        </p14:section>
        <p14:section name="Итог" id="{330459a4-ca07-2e5f-404a-dcad42e89b95}">
          <p14:sldIdLst>
            <p14:sldId id="27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Тема презентации — устройство квадрокоптера DJI Mavic 3. Разберём, из каких частей состоит дрон и за что отвечает каждая из них.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Mavic 3 весит 895 граммов, летает до 46 минут на одном аккумуляторе, держит связь до 15 километров и разгоняется до 19 метров в секунду в спортивном режиме.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Главная часть Mavic 3 — сдвоенная камера. Основная камера Hasselblad с матрицей 4/3 — это размер как у беззеркальных фотоаппаратов, поэтому картинка чистая даже вечером. Рядом телекамера с фокусным расстоянием 162 мм: она приближает удалённые объекты.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Подвес держит камеру ровно, даже когда сам дрон наклоняется в полёте. Три мотора компенсируют наклон, крен и поворот. Благодаря этому видео плавное без последующей стабилизации.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Система обзора состоит из пар камер, как два глаза. По разнице изображений дрон вычисляет расстояние до препятствий во всех направлениях и может сам облетать их или останавливаться.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Корпус сделан из лёгкого пластика и имеет обтекаемую форму. Под крышкой находятся полётный контроллер, модуль спутниковой навигации и система охлаждения.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Аккумулятор вставляется сзади сверху. Это литий-полимерная батарея на 5000 мАч. Её хватает до 46 минут полёта — один из лучших результатов среди складных дронов.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Лучи складываются, поэтому дрон легко переносить. В разложенном виде расстояние между моторами по диагонали — 380 мм. Светодиоды на лучах помогают понять, где у дрона перед.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Нажмите на видео, чтобы запустить. Mavic 3 складывается так: сначала лопасти винтов поворачиваются вдоль лучей, затем передние лучи складываются назад вдоль корпуса, а задние вперёд под корпус. В сложенном виде дрон размером с бутылку воды и помещается в небольшую сумку.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Бесколлекторные моторы надёжные и почти не изнашиваются. Дрон управляется только разной скоростью вращения моторов: если задние крутятся быстрее передних, дрон наклоняется вперёд и летит вперёд.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Винты создают подъёмную силу. Два винта крутятся по часовой стрелке и два против, поэтому дрон не вращается вокруг себя. Форма лопастей подобрана так, чтобы снизить шум.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Система передачи O3+ передаёт видео в реальном времени. Антенны встроены в стойки шасси, поэтому их не видно снаружи. Дальность — до 15 км по американскому стандарту и до 8 км по европейскому.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Нижние датчики нужны для точного зависания и посадки, особенно в помещении, где нет сигнала спутников. Инфракрасный датчик точно измеряет высоту до земли.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 полёте Mavic 3 держит положение по спутникам GPS, Galileo и BeiDou, сам облетает препятствия и автоматически возвращается к точке взлёта при потере сигнала или низком заряде.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Итог: каждая деталь Mavic 3 выполняет свою задачу. Спасибо за внимание!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063240"/>
            <a:ext cx="5943600" cy="11430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6600" b="1" spc="-200" kern="0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r>
              <a:rPr lang="en-US" sz="6600" b="1" spc="-200" kern="0" dirty="0">
                <a:solidFill>
                  <a:schemeClr val="tx1"/>
                </a:solidFill>
              </a:rPr>
              <a:t>Заголовок</a:t>
            </a:r>
            <a:endParaRPr lang="en-US" sz="6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4251960"/>
            <a:ext cx="548640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dirty="0">
                <a:solidFill>
                  <a:schemeClr val="accent2"/>
                </a:solidFill>
              </a:defRPr>
            </a:lvl1pPr>
          </a:lstStyle>
          <a:p>
            <a:pPr indent="0" marL="0">
              <a:buNone/>
            </a:pPr>
            <a:r>
              <a:rPr lang="en-US" sz="1600" dirty="0">
                <a:solidFill>
                  <a:schemeClr val="accent2"/>
                </a:solidFill>
              </a:rPr>
              <a:t>Подзаголовок</a:t>
            </a:r>
            <a:endParaRPr lang="en-US" sz="1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R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713232" y="1097280"/>
            <a:ext cx="32004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dirty="0">
                <a:solidFill>
                  <a:schemeClr val="accent2"/>
                </a:solidFill>
              </a:defRPr>
            </a:lvl1pPr>
          </a:lstStyle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Деталь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713232" y="1389888"/>
            <a:ext cx="320040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400" b="1" spc="-50" kern="0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r>
              <a:rPr lang="en-US" sz="2400" b="1" spc="-50" kern="0" dirty="0">
                <a:solidFill>
                  <a:schemeClr val="tx1"/>
                </a:solidFill>
              </a:rPr>
              <a:t>Название</a:t>
            </a:r>
            <a:endParaRPr lang="en-US" sz="2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713232" y="2286000"/>
            <a:ext cx="3200400" cy="13258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lnSpc>
                <a:spcPct val="110000"/>
              </a:lnSpc>
              <a:buNone/>
              <a:defRPr lang="en-US" sz="1400" dirty="0">
                <a:solidFill>
                  <a:schemeClr val="tx2"/>
                </a:solidFill>
              </a:defRPr>
            </a:lvl1pPr>
          </a:lstStyle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chemeClr val="tx2"/>
                </a:solidFill>
              </a:rPr>
              <a:t>Описание</a:t>
            </a:r>
            <a:endParaRPr lang="en-US" sz="14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713232" y="3657600"/>
            <a:ext cx="3200400" cy="384048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100" dirty="0">
                <a:solidFill>
                  <a:schemeClr val="accent2"/>
                </a:solidFill>
              </a:defRPr>
            </a:lvl1pPr>
          </a:lstStyle>
          <a:p>
            <a:pPr indent="0" marL="0">
              <a:buNone/>
            </a:pPr>
            <a:r>
              <a:rPr lang="en-US" sz="1100" dirty="0">
                <a:solidFill>
                  <a:schemeClr val="accent2"/>
                </a:solidFill>
              </a:rPr>
              <a:t>Характеристики</a:t>
            </a:r>
            <a:endParaRPr lang="en-US" sz="11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RT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239512" y="1097280"/>
            <a:ext cx="32004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dirty="0">
                <a:solidFill>
                  <a:schemeClr val="accent2"/>
                </a:solidFill>
              </a:defRPr>
            </a:lvl1pPr>
          </a:lstStyle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Раздел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239512" y="1389888"/>
            <a:ext cx="320040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spc="-50" kern="0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r>
              <a:rPr lang="en-US" sz="2800" b="1" spc="-50" kern="0" dirty="0">
                <a:solidFill>
                  <a:schemeClr val="tx1"/>
                </a:solidFill>
              </a:rPr>
              <a:t>Название</a:t>
            </a:r>
            <a:endParaRPr lang="en-US" sz="280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LIGHT">
    <p:bg>
      <p:bgPr>
        <a:solidFill>
          <a:srgbClr val="C9D6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1371600" y="411480"/>
            <a:ext cx="64008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1300" b="1" dirty="0">
                <a:solidFill>
                  <a:srgbClr val="FFFFFF"/>
                </a:solidFill>
              </a:defRPr>
            </a:lvl1pPr>
          </a:lstStyle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Режим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914400" y="713232"/>
            <a:ext cx="73152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4000" b="1" spc="-100" kern="0" dirty="0">
                <a:solidFill>
                  <a:srgbClr val="FFFFFF"/>
                </a:solidFill>
              </a:defRPr>
            </a:lvl1pPr>
          </a:lstStyle>
          <a:p>
            <a:pPr algn="ctr" indent="0" marL="0">
              <a:buNone/>
            </a:pPr>
            <a:r>
              <a:rPr lang="en-US" sz="4000" b="1" spc="-100" kern="0" dirty="0">
                <a:solidFill>
                  <a:srgbClr val="FFFFFF"/>
                </a:solidFill>
              </a:rPr>
              <a:t>Заголовок</a:t>
            </a:r>
            <a:endParaRPr lang="en-US" sz="4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2011680" y="1463040"/>
            <a:ext cx="512064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1400" dirty="0">
                <a:solidFill>
                  <a:srgbClr val="FFFFFF"/>
                </a:solidFill>
              </a:defRPr>
            </a:lvl1pPr>
          </a:lstStyle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Текст</a:t>
            </a:r>
            <a:endParaRPr lang="en-US" sz="14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video" Target="../media/media-9-1.mp4"/><Relationship Id="rId2" Type="http://schemas.microsoft.com/office/2007/relationships/media" Target="../media/media-9-1.mp4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!!model" descr="DJI Mavic 3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3063240"/>
            <a:ext cx="5943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6600" b="1" spc="-200" kern="0" dirty="0">
                <a:solidFill>
                  <a:schemeClr val="tx1"/>
                </a:solidFill>
              </a:rPr>
              <a:t>Mavic 3</a:t>
            </a:r>
            <a:endParaRPr lang="en-US" sz="66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457200" y="425196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2"/>
                </a:solidFill>
              </a:rPr>
              <a:t>Как устроен квадрокоптер DJI</a:t>
            </a:r>
            <a:endParaRPr lang="en-US" sz="16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4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!!model" descr="DJI Mavic 3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!!card"/>
          <p:cNvSpPr/>
          <p:nvPr/>
        </p:nvSpPr>
        <p:spPr>
          <a:xfrm>
            <a:off x="457200" y="868680"/>
            <a:ext cx="3703320" cy="3429000"/>
          </a:xfrm>
          <a:prstGeom prst="roundRect">
            <a:avLst>
              <a:gd name="adj" fmla="val 5333"/>
            </a:avLst>
          </a:prstGeom>
          <a:solidFill>
            <a:srgbClr val="FFFFFF">
              <a:alpha val="92000"/>
            </a:srgbClr>
          </a:solidFill>
          <a:ln w="9525">
            <a:solidFill>
              <a:srgbClr val="E8E8ED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8000"/>
              </a:srgbClr>
            </a:outerShdw>
          </a:effectLst>
        </p:spPr>
      </p:sp>
      <p:sp>
        <p:nvSpPr>
          <p:cNvPr id="4" name="Text 0"/>
          <p:cNvSpPr/>
          <p:nvPr>
            <p:ph idx="100" type="body" hasCustomPrompt="1"/>
          </p:nvPr>
        </p:nvSpPr>
        <p:spPr>
          <a:xfrm>
            <a:off x="713232" y="10972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Главные цифры</a:t>
            </a:r>
            <a:endParaRPr lang="en-US" sz="1200" dirty="0"/>
          </a:p>
        </p:txBody>
      </p:sp>
      <p:sp>
        <p:nvSpPr>
          <p:cNvPr id="5" name="Text 0"/>
          <p:cNvSpPr/>
          <p:nvPr>
            <p:ph idx="101" type="title" hasCustomPrompt="1"/>
          </p:nvPr>
        </p:nvSpPr>
        <p:spPr>
          <a:xfrm>
            <a:off x="713232" y="1389888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spc="-50" kern="0" dirty="0">
                <a:solidFill>
                  <a:schemeClr val="tx1"/>
                </a:solidFill>
              </a:rPr>
              <a:t>DJI Mavic 3</a:t>
            </a:r>
            <a:endParaRPr lang="en-US" sz="2400" dirty="0"/>
          </a:p>
        </p:txBody>
      </p:sp>
      <p:sp>
        <p:nvSpPr>
          <p:cNvPr id="6" name="stat0"/>
          <p:cNvSpPr txBox="1"/>
          <p:nvPr/>
        </p:nvSpPr>
        <p:spPr>
          <a:xfrm>
            <a:off x="713232" y="210312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46</a:t>
            </a:r>
            <a:pPr indent="0" marL="0">
              <a:buNone/>
            </a:pPr>
            <a:r>
              <a:rPr lang="en-US" sz="1400" dirty="0">
                <a:solidFill>
                  <a:schemeClr val="accent2"/>
                </a:solidFill>
              </a:rPr>
              <a:t> мин</a:t>
            </a:r>
            <a:endParaRPr lang="en-US" sz="3200" dirty="0"/>
          </a:p>
        </p:txBody>
      </p:sp>
      <p:sp>
        <p:nvSpPr>
          <p:cNvPr id="7" name="statl0"/>
          <p:cNvSpPr txBox="1"/>
          <p:nvPr/>
        </p:nvSpPr>
        <p:spPr>
          <a:xfrm>
            <a:off x="713232" y="2615184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2"/>
                </a:solidFill>
              </a:rPr>
              <a:t>время полёта</a:t>
            </a:r>
            <a:endParaRPr lang="en-US" sz="1100" dirty="0"/>
          </a:p>
        </p:txBody>
      </p:sp>
      <p:sp>
        <p:nvSpPr>
          <p:cNvPr id="8" name="stat1"/>
          <p:cNvSpPr txBox="1"/>
          <p:nvPr/>
        </p:nvSpPr>
        <p:spPr>
          <a:xfrm>
            <a:off x="2359152" y="210312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15</a:t>
            </a:r>
            <a:pPr indent="0" marL="0">
              <a:buNone/>
            </a:pPr>
            <a:r>
              <a:rPr lang="en-US" sz="1400" dirty="0">
                <a:solidFill>
                  <a:schemeClr val="accent2"/>
                </a:solidFill>
              </a:rPr>
              <a:t> км</a:t>
            </a:r>
            <a:endParaRPr lang="en-US" sz="3200" dirty="0"/>
          </a:p>
        </p:txBody>
      </p:sp>
      <p:sp>
        <p:nvSpPr>
          <p:cNvPr id="9" name="statl1"/>
          <p:cNvSpPr txBox="1"/>
          <p:nvPr/>
        </p:nvSpPr>
        <p:spPr>
          <a:xfrm>
            <a:off x="2359152" y="2615184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2"/>
                </a:solidFill>
              </a:rPr>
              <a:t>дальность связи</a:t>
            </a:r>
            <a:endParaRPr lang="en-US" sz="1100" dirty="0"/>
          </a:p>
        </p:txBody>
      </p:sp>
      <p:sp>
        <p:nvSpPr>
          <p:cNvPr id="10" name="stat2"/>
          <p:cNvSpPr txBox="1"/>
          <p:nvPr/>
        </p:nvSpPr>
        <p:spPr>
          <a:xfrm>
            <a:off x="713232" y="310896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895</a:t>
            </a:r>
            <a:pPr indent="0" marL="0">
              <a:buNone/>
            </a:pPr>
            <a:r>
              <a:rPr lang="en-US" sz="1400" dirty="0">
                <a:solidFill>
                  <a:schemeClr val="accent2"/>
                </a:solidFill>
              </a:rPr>
              <a:t> г</a:t>
            </a:r>
            <a:endParaRPr lang="en-US" sz="3200" dirty="0"/>
          </a:p>
        </p:txBody>
      </p:sp>
      <p:sp>
        <p:nvSpPr>
          <p:cNvPr id="11" name="statl2"/>
          <p:cNvSpPr txBox="1"/>
          <p:nvPr/>
        </p:nvSpPr>
        <p:spPr>
          <a:xfrm>
            <a:off x="713232" y="3621024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2"/>
                </a:solidFill>
              </a:rPr>
              <a:t>взлётный вес</a:t>
            </a:r>
            <a:endParaRPr lang="en-US" sz="1100" dirty="0"/>
          </a:p>
        </p:txBody>
      </p:sp>
      <p:sp>
        <p:nvSpPr>
          <p:cNvPr id="12" name="stat3"/>
          <p:cNvSpPr txBox="1"/>
          <p:nvPr/>
        </p:nvSpPr>
        <p:spPr>
          <a:xfrm>
            <a:off x="2359152" y="310896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19</a:t>
            </a:r>
            <a:pPr indent="0" marL="0">
              <a:buNone/>
            </a:pPr>
            <a:r>
              <a:rPr lang="en-US" sz="1400" dirty="0">
                <a:solidFill>
                  <a:schemeClr val="accent2"/>
                </a:solidFill>
              </a:rPr>
              <a:t> м/с</a:t>
            </a:r>
            <a:endParaRPr lang="en-US" sz="3200" dirty="0"/>
          </a:p>
        </p:txBody>
      </p:sp>
      <p:sp>
        <p:nvSpPr>
          <p:cNvPr id="13" name="statl3"/>
          <p:cNvSpPr txBox="1"/>
          <p:nvPr/>
        </p:nvSpPr>
        <p:spPr>
          <a:xfrm>
            <a:off x="2359152" y="3621024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2"/>
                </a:solidFill>
              </a:rPr>
              <a:t>скорость в режиме S</a:t>
            </a:r>
            <a:endParaRPr lang="en-US" sz="1100" dirty="0"/>
          </a:p>
        </p:txBody>
      </p:sp>
      <p:sp>
        <p:nvSpPr>
          <p:cNvPr id="15" name="Text 0"/>
          <p:cNvSpPr/>
          <p:nvPr>
            <p:ph idx="102" type="body" hasCustomPrompt="1"/>
          </p:nvPr>
        </p:nvSpPr>
        <p:spPr>
          <a:xfrm>
            <a:off x="713232" y="2286000"/>
            <a:ext cx="32004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endParaRPr lang="en-US" sz="1400" dirty="0"/>
          </a:p>
        </p:txBody>
      </p:sp>
      <p:sp>
        <p:nvSpPr>
          <p:cNvPr id="16" name="Text 0"/>
          <p:cNvSpPr/>
          <p:nvPr>
            <p:ph idx="103" type="body" hasCustomPrompt="1"/>
          </p:nvPr>
        </p:nvSpPr>
        <p:spPr>
          <a:xfrm>
            <a:off x="713232" y="365760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4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!!model" descr="DJI Mavic 3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!!card"/>
          <p:cNvSpPr/>
          <p:nvPr/>
        </p:nvSpPr>
        <p:spPr>
          <a:xfrm>
            <a:off x="457200" y="914400"/>
            <a:ext cx="3703320" cy="3310128"/>
          </a:xfrm>
          <a:prstGeom prst="roundRect">
            <a:avLst>
              <a:gd name="adj" fmla="val 5525"/>
            </a:avLst>
          </a:prstGeom>
          <a:solidFill>
            <a:srgbClr val="FFFFFF">
              <a:alpha val="92000"/>
            </a:srgbClr>
          </a:solidFill>
          <a:ln w="9525">
            <a:solidFill>
              <a:srgbClr val="E8E8ED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8000"/>
              </a:srgbClr>
            </a:outerShdw>
          </a:effectLst>
        </p:spPr>
      </p:sp>
      <p:sp>
        <p:nvSpPr>
          <p:cNvPr id="4" name="Text 0"/>
          <p:cNvSpPr/>
          <p:nvPr>
            <p:ph idx="100" type="body" hasCustomPrompt="1"/>
          </p:nvPr>
        </p:nvSpPr>
        <p:spPr>
          <a:xfrm>
            <a:off x="713232" y="10972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Дрон · деталь 01 из 10</a:t>
            </a:r>
            <a:endParaRPr lang="en-US" sz="1200" dirty="0"/>
          </a:p>
        </p:txBody>
      </p:sp>
      <p:sp>
        <p:nvSpPr>
          <p:cNvPr id="5" name="Text 0"/>
          <p:cNvSpPr/>
          <p:nvPr>
            <p:ph idx="101" type="title" hasCustomPrompt="1"/>
          </p:nvPr>
        </p:nvSpPr>
        <p:spPr>
          <a:xfrm>
            <a:off x="713232" y="1389888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spc="-50" kern="0" dirty="0">
                <a:solidFill>
                  <a:schemeClr val="tx1"/>
                </a:solidFill>
              </a:rPr>
              <a:t>Камера Hasselblad и телекамера</a:t>
            </a:r>
            <a:endParaRPr lang="en-US" sz="2400" dirty="0"/>
          </a:p>
        </p:txBody>
      </p:sp>
      <p:sp>
        <p:nvSpPr>
          <p:cNvPr id="6" name="Text 0"/>
          <p:cNvSpPr/>
          <p:nvPr>
            <p:ph idx="102" type="body" hasCustomPrompt="1"/>
          </p:nvPr>
        </p:nvSpPr>
        <p:spPr>
          <a:xfrm>
            <a:off x="713232" y="2286000"/>
            <a:ext cx="32004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chemeClr val="tx2"/>
                </a:solidFill>
              </a:rPr>
              <a:t>Две камеры в одном блоке. Основная с большой матрицей 4/3 снимает фото 20 Мп и видео 5.1K. Телекамера приближает объект, чтобы снимать издалека.</a:t>
            </a:r>
            <a:endParaRPr lang="en-US" sz="1400" dirty="0"/>
          </a:p>
        </p:txBody>
      </p:sp>
      <p:sp>
        <p:nvSpPr>
          <p:cNvPr id="7" name="Text 0"/>
          <p:cNvSpPr/>
          <p:nvPr>
            <p:ph idx="103" type="body" hasCustomPrompt="1"/>
          </p:nvPr>
        </p:nvSpPr>
        <p:spPr>
          <a:xfrm>
            <a:off x="713232" y="365760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2"/>
                </a:solidFill>
              </a:rPr>
              <a:t>Основная: 24 мм, f/2.8–f/11 · теле: 162 мм, f/4.4</a:t>
            </a: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4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!!model" descr="DJI Mavic 3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!!card"/>
          <p:cNvSpPr/>
          <p:nvPr/>
        </p:nvSpPr>
        <p:spPr>
          <a:xfrm>
            <a:off x="457200" y="914400"/>
            <a:ext cx="3703320" cy="3310128"/>
          </a:xfrm>
          <a:prstGeom prst="roundRect">
            <a:avLst>
              <a:gd name="adj" fmla="val 5525"/>
            </a:avLst>
          </a:prstGeom>
          <a:solidFill>
            <a:srgbClr val="FFFFFF">
              <a:alpha val="92000"/>
            </a:srgbClr>
          </a:solidFill>
          <a:ln w="9525">
            <a:solidFill>
              <a:srgbClr val="E8E8ED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8000"/>
              </a:srgbClr>
            </a:outerShdw>
          </a:effectLst>
        </p:spPr>
      </p:sp>
      <p:sp>
        <p:nvSpPr>
          <p:cNvPr id="4" name="Text 0"/>
          <p:cNvSpPr/>
          <p:nvPr>
            <p:ph idx="100" type="body" hasCustomPrompt="1"/>
          </p:nvPr>
        </p:nvSpPr>
        <p:spPr>
          <a:xfrm>
            <a:off x="713232" y="10972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Дрон · деталь 02 из 10</a:t>
            </a:r>
            <a:endParaRPr lang="en-US" sz="1200" dirty="0"/>
          </a:p>
        </p:txBody>
      </p:sp>
      <p:sp>
        <p:nvSpPr>
          <p:cNvPr id="5" name="Text 0"/>
          <p:cNvSpPr/>
          <p:nvPr>
            <p:ph idx="101" type="title" hasCustomPrompt="1"/>
          </p:nvPr>
        </p:nvSpPr>
        <p:spPr>
          <a:xfrm>
            <a:off x="713232" y="1389888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spc="-50" kern="0" dirty="0">
                <a:solidFill>
                  <a:schemeClr val="tx1"/>
                </a:solidFill>
              </a:rPr>
              <a:t>Трёхосевой подвес</a:t>
            </a:r>
            <a:endParaRPr lang="en-US" sz="2400" dirty="0"/>
          </a:p>
        </p:txBody>
      </p:sp>
      <p:sp>
        <p:nvSpPr>
          <p:cNvPr id="6" name="Text 0"/>
          <p:cNvSpPr/>
          <p:nvPr>
            <p:ph idx="102" type="body" hasCustomPrompt="1"/>
          </p:nvPr>
        </p:nvSpPr>
        <p:spPr>
          <a:xfrm>
            <a:off x="713232" y="2286000"/>
            <a:ext cx="32004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chemeClr val="tx2"/>
                </a:solidFill>
              </a:rPr>
              <a:t>Маленькие моторы подвеса гасят наклоны и вибрации дрона по трём осям, поэтому видео остаётся ровным даже на ветру.</a:t>
            </a:r>
            <a:endParaRPr lang="en-US" sz="1400" dirty="0"/>
          </a:p>
        </p:txBody>
      </p:sp>
      <p:sp>
        <p:nvSpPr>
          <p:cNvPr id="7" name="Text 0"/>
          <p:cNvSpPr/>
          <p:nvPr>
            <p:ph idx="103" type="body" hasCustomPrompt="1"/>
          </p:nvPr>
        </p:nvSpPr>
        <p:spPr>
          <a:xfrm>
            <a:off x="713232" y="365760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2"/>
                </a:solidFill>
              </a:rPr>
              <a:t>Наклон камеры от −90° до +35°</a:t>
            </a: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4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!!model" descr="DJI Mavic 3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!!card"/>
          <p:cNvSpPr/>
          <p:nvPr/>
        </p:nvSpPr>
        <p:spPr>
          <a:xfrm>
            <a:off x="457200" y="914400"/>
            <a:ext cx="3703320" cy="3310128"/>
          </a:xfrm>
          <a:prstGeom prst="roundRect">
            <a:avLst>
              <a:gd name="adj" fmla="val 5525"/>
            </a:avLst>
          </a:prstGeom>
          <a:solidFill>
            <a:srgbClr val="FFFFFF">
              <a:alpha val="92000"/>
            </a:srgbClr>
          </a:solidFill>
          <a:ln w="9525">
            <a:solidFill>
              <a:srgbClr val="E8E8ED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8000"/>
              </a:srgbClr>
            </a:outerShdw>
          </a:effectLst>
        </p:spPr>
      </p:sp>
      <p:sp>
        <p:nvSpPr>
          <p:cNvPr id="4" name="Text 0"/>
          <p:cNvSpPr/>
          <p:nvPr>
            <p:ph idx="100" type="body" hasCustomPrompt="1"/>
          </p:nvPr>
        </p:nvSpPr>
        <p:spPr>
          <a:xfrm>
            <a:off x="713232" y="10972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Дрон · деталь 03 из 10</a:t>
            </a:r>
            <a:endParaRPr lang="en-US" sz="1200" dirty="0"/>
          </a:p>
        </p:txBody>
      </p:sp>
      <p:sp>
        <p:nvSpPr>
          <p:cNvPr id="5" name="Text 0"/>
          <p:cNvSpPr/>
          <p:nvPr>
            <p:ph idx="101" type="title" hasCustomPrompt="1"/>
          </p:nvPr>
        </p:nvSpPr>
        <p:spPr>
          <a:xfrm>
            <a:off x="713232" y="1389888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spc="-50" kern="0" dirty="0">
                <a:solidFill>
                  <a:schemeClr val="tx1"/>
                </a:solidFill>
              </a:rPr>
              <a:t>Камеры обзора</a:t>
            </a:r>
            <a:endParaRPr lang="en-US" sz="2400" dirty="0"/>
          </a:p>
        </p:txBody>
      </p:sp>
      <p:sp>
        <p:nvSpPr>
          <p:cNvPr id="6" name="Text 0"/>
          <p:cNvSpPr/>
          <p:nvPr>
            <p:ph idx="102" type="body" hasCustomPrompt="1"/>
          </p:nvPr>
        </p:nvSpPr>
        <p:spPr>
          <a:xfrm>
            <a:off x="713232" y="2286000"/>
            <a:ext cx="32004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chemeClr val="tx2"/>
                </a:solidFill>
              </a:rPr>
              <a:t>Стереокамеры смотрят вперёд, назад, вверх и в стороны и строят карту препятствий, чтобы дрон сам облетал деревья и стены.</a:t>
            </a:r>
            <a:endParaRPr lang="en-US" sz="1400" dirty="0"/>
          </a:p>
        </p:txBody>
      </p:sp>
      <p:sp>
        <p:nvSpPr>
          <p:cNvPr id="7" name="Text 0"/>
          <p:cNvSpPr/>
          <p:nvPr>
            <p:ph idx="103" type="body" hasCustomPrompt="1"/>
          </p:nvPr>
        </p:nvSpPr>
        <p:spPr>
          <a:xfrm>
            <a:off x="713232" y="365760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2"/>
                </a:solidFill>
              </a:rPr>
              <a:t>Обзор на 360° · вперёд видит до 200 м</a:t>
            </a: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4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!!model" descr="DJI Mavic 3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!!card"/>
          <p:cNvSpPr/>
          <p:nvPr/>
        </p:nvSpPr>
        <p:spPr>
          <a:xfrm>
            <a:off x="457200" y="914400"/>
            <a:ext cx="3703320" cy="3310128"/>
          </a:xfrm>
          <a:prstGeom prst="roundRect">
            <a:avLst>
              <a:gd name="adj" fmla="val 5525"/>
            </a:avLst>
          </a:prstGeom>
          <a:solidFill>
            <a:srgbClr val="FFFFFF">
              <a:alpha val="92000"/>
            </a:srgbClr>
          </a:solidFill>
          <a:ln w="9525">
            <a:solidFill>
              <a:srgbClr val="E8E8ED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8000"/>
              </a:srgbClr>
            </a:outerShdw>
          </a:effectLst>
        </p:spPr>
      </p:sp>
      <p:sp>
        <p:nvSpPr>
          <p:cNvPr id="4" name="Text 0"/>
          <p:cNvSpPr/>
          <p:nvPr>
            <p:ph idx="100" type="body" hasCustomPrompt="1"/>
          </p:nvPr>
        </p:nvSpPr>
        <p:spPr>
          <a:xfrm>
            <a:off x="713232" y="10972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Дрон · деталь 04 из 10</a:t>
            </a:r>
            <a:endParaRPr lang="en-US" sz="1200" dirty="0"/>
          </a:p>
        </p:txBody>
      </p:sp>
      <p:sp>
        <p:nvSpPr>
          <p:cNvPr id="5" name="Text 0"/>
          <p:cNvSpPr/>
          <p:nvPr>
            <p:ph idx="101" type="title" hasCustomPrompt="1"/>
          </p:nvPr>
        </p:nvSpPr>
        <p:spPr>
          <a:xfrm>
            <a:off x="713232" y="1389888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spc="-50" kern="0" dirty="0">
                <a:solidFill>
                  <a:schemeClr val="tx1"/>
                </a:solidFill>
              </a:rPr>
              <a:t>Верхняя крышка корпуса</a:t>
            </a:r>
            <a:endParaRPr lang="en-US" sz="2400" dirty="0"/>
          </a:p>
        </p:txBody>
      </p:sp>
      <p:sp>
        <p:nvSpPr>
          <p:cNvPr id="6" name="Text 0"/>
          <p:cNvSpPr/>
          <p:nvPr>
            <p:ph idx="102" type="body" hasCustomPrompt="1"/>
          </p:nvPr>
        </p:nvSpPr>
        <p:spPr>
          <a:xfrm>
            <a:off x="713232" y="2286000"/>
            <a:ext cx="32004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chemeClr val="tx2"/>
                </a:solidFill>
              </a:rPr>
              <a:t>Закрывает электронику от пыли и брызг и делает корпус обтекаемым, чтобы дрон меньше тормозил о воздух. Спереди на ней стоят камеры обзора.</a:t>
            </a:r>
            <a:endParaRPr lang="en-US" sz="1400" dirty="0"/>
          </a:p>
        </p:txBody>
      </p:sp>
      <p:sp>
        <p:nvSpPr>
          <p:cNvPr id="7" name="Text 0"/>
          <p:cNvSpPr/>
          <p:nvPr>
            <p:ph idx="103" type="body" hasCustomPrompt="1"/>
          </p:nvPr>
        </p:nvSpPr>
        <p:spPr>
          <a:xfrm>
            <a:off x="713232" y="365760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2"/>
                </a:solidFill>
              </a:rPr>
              <a:t>В сложенном виде дрон 221 × 96 × 90 мм</a:t>
            </a: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4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!!model" descr="DJI Mavic 3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!!card"/>
          <p:cNvSpPr/>
          <p:nvPr/>
        </p:nvSpPr>
        <p:spPr>
          <a:xfrm>
            <a:off x="457200" y="914400"/>
            <a:ext cx="3703320" cy="3310128"/>
          </a:xfrm>
          <a:prstGeom prst="roundRect">
            <a:avLst>
              <a:gd name="adj" fmla="val 5525"/>
            </a:avLst>
          </a:prstGeom>
          <a:solidFill>
            <a:srgbClr val="FFFFFF">
              <a:alpha val="92000"/>
            </a:srgbClr>
          </a:solidFill>
          <a:ln w="9525">
            <a:solidFill>
              <a:srgbClr val="E8E8ED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8000"/>
              </a:srgbClr>
            </a:outerShdw>
          </a:effectLst>
        </p:spPr>
      </p:sp>
      <p:sp>
        <p:nvSpPr>
          <p:cNvPr id="4" name="Text 0"/>
          <p:cNvSpPr/>
          <p:nvPr>
            <p:ph idx="100" type="body" hasCustomPrompt="1"/>
          </p:nvPr>
        </p:nvSpPr>
        <p:spPr>
          <a:xfrm>
            <a:off x="713232" y="10972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Дрон · деталь 05 из 10</a:t>
            </a:r>
            <a:endParaRPr lang="en-US" sz="1200" dirty="0"/>
          </a:p>
        </p:txBody>
      </p:sp>
      <p:sp>
        <p:nvSpPr>
          <p:cNvPr id="5" name="Text 0"/>
          <p:cNvSpPr/>
          <p:nvPr>
            <p:ph idx="101" type="title" hasCustomPrompt="1"/>
          </p:nvPr>
        </p:nvSpPr>
        <p:spPr>
          <a:xfrm>
            <a:off x="713232" y="1389888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spc="-50" kern="0" dirty="0">
                <a:solidFill>
                  <a:schemeClr val="tx1"/>
                </a:solidFill>
              </a:rPr>
              <a:t>Аккумулятор</a:t>
            </a:r>
            <a:endParaRPr lang="en-US" sz="2400" dirty="0"/>
          </a:p>
        </p:txBody>
      </p:sp>
      <p:sp>
        <p:nvSpPr>
          <p:cNvPr id="6" name="Text 0"/>
          <p:cNvSpPr/>
          <p:nvPr>
            <p:ph idx="102" type="body" hasCustomPrompt="1"/>
          </p:nvPr>
        </p:nvSpPr>
        <p:spPr>
          <a:xfrm>
            <a:off x="713232" y="2286000"/>
            <a:ext cx="32004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chemeClr val="tx2"/>
                </a:solidFill>
              </a:rPr>
              <a:t>Питает моторы, камеру и всю электронику. Сам следит за зарядом и температурой ячеек и подсказывает, когда пора возвращаться. Четыре огонька сзади показывают заряд.</a:t>
            </a:r>
            <a:endParaRPr lang="en-US" sz="1400" dirty="0"/>
          </a:p>
        </p:txBody>
      </p:sp>
      <p:sp>
        <p:nvSpPr>
          <p:cNvPr id="7" name="Text 0"/>
          <p:cNvSpPr/>
          <p:nvPr>
            <p:ph idx="103" type="body" hasCustomPrompt="1"/>
          </p:nvPr>
        </p:nvSpPr>
        <p:spPr>
          <a:xfrm>
            <a:off x="713232" y="365760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2"/>
                </a:solidFill>
              </a:rPr>
              <a:t>5000 мА·ч · 15,4 В · LiPo 4S · 77 Вт·ч · до 46 минут</a:t>
            </a: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4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!!model" descr="DJI Mavic 3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!!card"/>
          <p:cNvSpPr/>
          <p:nvPr/>
        </p:nvSpPr>
        <p:spPr>
          <a:xfrm>
            <a:off x="457200" y="914400"/>
            <a:ext cx="3703320" cy="3310128"/>
          </a:xfrm>
          <a:prstGeom prst="roundRect">
            <a:avLst>
              <a:gd name="adj" fmla="val 5525"/>
            </a:avLst>
          </a:prstGeom>
          <a:solidFill>
            <a:srgbClr val="FFFFFF">
              <a:alpha val="92000"/>
            </a:srgbClr>
          </a:solidFill>
          <a:ln w="9525">
            <a:solidFill>
              <a:srgbClr val="E8E8ED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8000"/>
              </a:srgbClr>
            </a:outerShdw>
          </a:effectLst>
        </p:spPr>
      </p:sp>
      <p:sp>
        <p:nvSpPr>
          <p:cNvPr id="4" name="Text 0"/>
          <p:cNvSpPr/>
          <p:nvPr>
            <p:ph idx="100" type="body" hasCustomPrompt="1"/>
          </p:nvPr>
        </p:nvSpPr>
        <p:spPr>
          <a:xfrm>
            <a:off x="713232" y="10972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Дрон · деталь 06 из 10</a:t>
            </a:r>
            <a:endParaRPr lang="en-US" sz="1200" dirty="0"/>
          </a:p>
        </p:txBody>
      </p:sp>
      <p:sp>
        <p:nvSpPr>
          <p:cNvPr id="5" name="Text 0"/>
          <p:cNvSpPr/>
          <p:nvPr>
            <p:ph idx="101" type="title" hasCustomPrompt="1"/>
          </p:nvPr>
        </p:nvSpPr>
        <p:spPr>
          <a:xfrm>
            <a:off x="713232" y="1389888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spc="-50" kern="0" dirty="0">
                <a:solidFill>
                  <a:schemeClr val="tx1"/>
                </a:solidFill>
              </a:rPr>
              <a:t>Складные лучи</a:t>
            </a:r>
            <a:endParaRPr lang="en-US" sz="2400" dirty="0"/>
          </a:p>
        </p:txBody>
      </p:sp>
      <p:sp>
        <p:nvSpPr>
          <p:cNvPr id="6" name="Text 0"/>
          <p:cNvSpPr/>
          <p:nvPr>
            <p:ph idx="102" type="body" hasCustomPrompt="1"/>
          </p:nvPr>
        </p:nvSpPr>
        <p:spPr>
          <a:xfrm>
            <a:off x="713232" y="2286000"/>
            <a:ext cx="32004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chemeClr val="tx2"/>
                </a:solidFill>
              </a:rPr>
              <a:t>Держат моторы на нужном расстоянии от центра. Передние складываются назад вдоль корпуса, задние вперёд под него, и дрон помещается в небольшую сумку.</a:t>
            </a:r>
            <a:endParaRPr lang="en-US" sz="1400" dirty="0"/>
          </a:p>
        </p:txBody>
      </p:sp>
      <p:sp>
        <p:nvSpPr>
          <p:cNvPr id="7" name="Text 0"/>
          <p:cNvSpPr/>
          <p:nvPr>
            <p:ph idx="103" type="body" hasCustomPrompt="1"/>
          </p:nvPr>
        </p:nvSpPr>
        <p:spPr>
          <a:xfrm>
            <a:off x="713232" y="365760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2"/>
                </a:solidFill>
              </a:rPr>
              <a:t>Диагональ 380 мм · светодиоды на концах</a:t>
            </a: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4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!!model">
            <a:hlinkClick r:id="" action="ppaction://media"/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3429000" y="502920"/>
            <a:ext cx="5486400" cy="3086100"/>
          </a:xfrm>
          <a:prstGeom prst="rect">
            <a:avLst/>
          </a:prstGeom>
        </p:spPr>
      </p:pic>
      <p:sp>
        <p:nvSpPr>
          <p:cNvPr id="3" name="!!card"/>
          <p:cNvSpPr/>
          <p:nvPr/>
        </p:nvSpPr>
        <p:spPr>
          <a:xfrm>
            <a:off x="457200" y="914400"/>
            <a:ext cx="3703320" cy="3310128"/>
          </a:xfrm>
          <a:prstGeom prst="roundRect">
            <a:avLst>
              <a:gd name="adj" fmla="val 5525"/>
            </a:avLst>
          </a:prstGeom>
          <a:solidFill>
            <a:srgbClr val="FFFFFF">
              <a:alpha val="92000"/>
            </a:srgbClr>
          </a:solidFill>
          <a:ln w="9525">
            <a:solidFill>
              <a:srgbClr val="E8E8ED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8000"/>
              </a:srgbClr>
            </a:outerShdw>
          </a:effectLst>
        </p:spPr>
      </p:sp>
      <p:sp>
        <p:nvSpPr>
          <p:cNvPr id="4" name="Text 0"/>
          <p:cNvSpPr/>
          <p:nvPr>
            <p:ph idx="100" type="body" hasCustomPrompt="1"/>
          </p:nvPr>
        </p:nvSpPr>
        <p:spPr>
          <a:xfrm>
            <a:off x="713232" y="10972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Как он складывается</a:t>
            </a:r>
            <a:endParaRPr lang="en-US" sz="1200" dirty="0"/>
          </a:p>
        </p:txBody>
      </p:sp>
      <p:sp>
        <p:nvSpPr>
          <p:cNvPr id="5" name="Text 0"/>
          <p:cNvSpPr/>
          <p:nvPr>
            <p:ph idx="101" type="title" hasCustomPrompt="1"/>
          </p:nvPr>
        </p:nvSpPr>
        <p:spPr>
          <a:xfrm>
            <a:off x="713232" y="1389888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spc="-50" kern="0" dirty="0">
                <a:solidFill>
                  <a:schemeClr val="tx1"/>
                </a:solidFill>
              </a:rPr>
              <a:t>Складывание за пару секунд</a:t>
            </a:r>
            <a:endParaRPr lang="en-US" sz="2400" dirty="0"/>
          </a:p>
        </p:txBody>
      </p:sp>
      <p:sp>
        <p:nvSpPr>
          <p:cNvPr id="6" name="Text 0"/>
          <p:cNvSpPr/>
          <p:nvPr>
            <p:ph idx="102" type="body" hasCustomPrompt="1"/>
          </p:nvPr>
        </p:nvSpPr>
        <p:spPr>
          <a:xfrm>
            <a:off x="713232" y="2286000"/>
            <a:ext cx="32004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chemeClr val="tx2"/>
                </a:solidFill>
              </a:rPr>
              <a:t>Сначала лопасти винтов прижимаются к лучам. Потом передние лучи поворачиваются назад вдоль корпуса, а задние вперёд и вниз под корпус.</a:t>
            </a:r>
            <a:endParaRPr lang="en-US" sz="1400" dirty="0"/>
          </a:p>
        </p:txBody>
      </p:sp>
      <p:sp>
        <p:nvSpPr>
          <p:cNvPr id="7" name="Text 0"/>
          <p:cNvSpPr/>
          <p:nvPr>
            <p:ph idx="103" type="body" hasCustomPrompt="1"/>
          </p:nvPr>
        </p:nvSpPr>
        <p:spPr>
          <a:xfrm>
            <a:off x="713232" y="365760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2"/>
                </a:solidFill>
              </a:rPr>
              <a:t>В сложенном виде 221 × 96 × 90 мм</a:t>
            </a: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4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!!model" descr="DJI Mavic 3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!!card"/>
          <p:cNvSpPr/>
          <p:nvPr/>
        </p:nvSpPr>
        <p:spPr>
          <a:xfrm>
            <a:off x="457200" y="914400"/>
            <a:ext cx="3703320" cy="3310128"/>
          </a:xfrm>
          <a:prstGeom prst="roundRect">
            <a:avLst>
              <a:gd name="adj" fmla="val 5525"/>
            </a:avLst>
          </a:prstGeom>
          <a:solidFill>
            <a:srgbClr val="FFFFFF">
              <a:alpha val="92000"/>
            </a:srgbClr>
          </a:solidFill>
          <a:ln w="9525">
            <a:solidFill>
              <a:srgbClr val="E8E8ED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8000"/>
              </a:srgbClr>
            </a:outerShdw>
          </a:effectLst>
        </p:spPr>
      </p:sp>
      <p:sp>
        <p:nvSpPr>
          <p:cNvPr id="4" name="Text 0"/>
          <p:cNvSpPr/>
          <p:nvPr>
            <p:ph idx="100" type="body" hasCustomPrompt="1"/>
          </p:nvPr>
        </p:nvSpPr>
        <p:spPr>
          <a:xfrm>
            <a:off x="713232" y="10972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Дрон · деталь 07 из 10</a:t>
            </a:r>
            <a:endParaRPr lang="en-US" sz="1200" dirty="0"/>
          </a:p>
        </p:txBody>
      </p:sp>
      <p:sp>
        <p:nvSpPr>
          <p:cNvPr id="5" name="Text 0"/>
          <p:cNvSpPr/>
          <p:nvPr>
            <p:ph idx="101" type="title" hasCustomPrompt="1"/>
          </p:nvPr>
        </p:nvSpPr>
        <p:spPr>
          <a:xfrm>
            <a:off x="713232" y="1389888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spc="-50" kern="0" dirty="0">
                <a:solidFill>
                  <a:schemeClr val="tx1"/>
                </a:solidFill>
              </a:rPr>
              <a:t>Бесколлекторные моторы</a:t>
            </a:r>
            <a:endParaRPr lang="en-US" sz="2400" dirty="0"/>
          </a:p>
        </p:txBody>
      </p:sp>
      <p:sp>
        <p:nvSpPr>
          <p:cNvPr id="6" name="Text 0"/>
          <p:cNvSpPr/>
          <p:nvPr>
            <p:ph idx="102" type="body" hasCustomPrompt="1"/>
          </p:nvPr>
        </p:nvSpPr>
        <p:spPr>
          <a:xfrm>
            <a:off x="713232" y="2286000"/>
            <a:ext cx="32004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chemeClr val="tx2"/>
                </a:solidFill>
              </a:rPr>
              <a:t>Четыре мотора крутят винты. Меняя их обороты, контроллер поднимает дрон, наклоняет его и поворачивает.</a:t>
            </a:r>
            <a:endParaRPr lang="en-US" sz="1400" dirty="0"/>
          </a:p>
        </p:txBody>
      </p:sp>
      <p:sp>
        <p:nvSpPr>
          <p:cNvPr id="7" name="Text 0"/>
          <p:cNvSpPr/>
          <p:nvPr>
            <p:ph idx="103" type="body" hasCustomPrompt="1"/>
          </p:nvPr>
        </p:nvSpPr>
        <p:spPr>
          <a:xfrm>
            <a:off x="713232" y="365760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2"/>
                </a:solidFill>
              </a:rPr>
              <a:t>4 мотора · подъём до 8 м/с</a:t>
            </a: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400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!!model" descr="DJI Mavic 3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!!card"/>
          <p:cNvSpPr/>
          <p:nvPr/>
        </p:nvSpPr>
        <p:spPr>
          <a:xfrm>
            <a:off x="457200" y="914400"/>
            <a:ext cx="3703320" cy="3310128"/>
          </a:xfrm>
          <a:prstGeom prst="roundRect">
            <a:avLst>
              <a:gd name="adj" fmla="val 5525"/>
            </a:avLst>
          </a:prstGeom>
          <a:solidFill>
            <a:srgbClr val="FFFFFF">
              <a:alpha val="92000"/>
            </a:srgbClr>
          </a:solidFill>
          <a:ln w="9525">
            <a:solidFill>
              <a:srgbClr val="E8E8ED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8000"/>
              </a:srgbClr>
            </a:outerShdw>
          </a:effectLst>
        </p:spPr>
      </p:sp>
      <p:sp>
        <p:nvSpPr>
          <p:cNvPr id="4" name="Text 0"/>
          <p:cNvSpPr/>
          <p:nvPr>
            <p:ph idx="100" type="body" hasCustomPrompt="1"/>
          </p:nvPr>
        </p:nvSpPr>
        <p:spPr>
          <a:xfrm>
            <a:off x="713232" y="10972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Дрон · деталь 08 из 10</a:t>
            </a:r>
            <a:endParaRPr lang="en-US" sz="1200" dirty="0"/>
          </a:p>
        </p:txBody>
      </p:sp>
      <p:sp>
        <p:nvSpPr>
          <p:cNvPr id="5" name="Text 0"/>
          <p:cNvSpPr/>
          <p:nvPr>
            <p:ph idx="101" type="title" hasCustomPrompt="1"/>
          </p:nvPr>
        </p:nvSpPr>
        <p:spPr>
          <a:xfrm>
            <a:off x="713232" y="1389888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spc="-50" kern="0" dirty="0">
                <a:solidFill>
                  <a:schemeClr val="tx1"/>
                </a:solidFill>
              </a:rPr>
              <a:t>Винты</a:t>
            </a:r>
            <a:endParaRPr lang="en-US" sz="2400" dirty="0"/>
          </a:p>
        </p:txBody>
      </p:sp>
      <p:sp>
        <p:nvSpPr>
          <p:cNvPr id="6" name="Text 0"/>
          <p:cNvSpPr/>
          <p:nvPr>
            <p:ph idx="102" type="body" hasCustomPrompt="1"/>
          </p:nvPr>
        </p:nvSpPr>
        <p:spPr>
          <a:xfrm>
            <a:off x="713232" y="2286000"/>
            <a:ext cx="32004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chemeClr val="tx2"/>
                </a:solidFill>
              </a:rPr>
              <a:t>Отбрасывают воздух вниз и создают тягу. Соседние винты крутятся в разные стороны, чтобы дрон не закручивало. Лопасти складываются и снимаются без инструментов.</a:t>
            </a:r>
            <a:endParaRPr lang="en-US" sz="1400" dirty="0"/>
          </a:p>
        </p:txBody>
      </p:sp>
      <p:sp>
        <p:nvSpPr>
          <p:cNvPr id="7" name="Text 0"/>
          <p:cNvSpPr/>
          <p:nvPr>
            <p:ph idx="103" type="body" hasCustomPrompt="1"/>
          </p:nvPr>
        </p:nvSpPr>
        <p:spPr>
          <a:xfrm>
            <a:off x="713232" y="365760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2"/>
                </a:solidFill>
              </a:rPr>
              <a:t>Быстросъёмные · малошумные</a:t>
            </a: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400">
        <p159:morph option="byObject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!!model" descr="DJI Mavic 3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!!card"/>
          <p:cNvSpPr/>
          <p:nvPr/>
        </p:nvSpPr>
        <p:spPr>
          <a:xfrm>
            <a:off x="457200" y="914400"/>
            <a:ext cx="3703320" cy="3310128"/>
          </a:xfrm>
          <a:prstGeom prst="roundRect">
            <a:avLst>
              <a:gd name="adj" fmla="val 5525"/>
            </a:avLst>
          </a:prstGeom>
          <a:solidFill>
            <a:srgbClr val="FFFFFF">
              <a:alpha val="92000"/>
            </a:srgbClr>
          </a:solidFill>
          <a:ln w="9525">
            <a:solidFill>
              <a:srgbClr val="E8E8ED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8000"/>
              </a:srgbClr>
            </a:outerShdw>
          </a:effectLst>
        </p:spPr>
      </p:sp>
      <p:sp>
        <p:nvSpPr>
          <p:cNvPr id="4" name="Text 0"/>
          <p:cNvSpPr/>
          <p:nvPr>
            <p:ph idx="100" type="body" hasCustomPrompt="1"/>
          </p:nvPr>
        </p:nvSpPr>
        <p:spPr>
          <a:xfrm>
            <a:off x="713232" y="10972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Дрон · деталь 09 из 10</a:t>
            </a:r>
            <a:endParaRPr lang="en-US" sz="1200" dirty="0"/>
          </a:p>
        </p:txBody>
      </p:sp>
      <p:sp>
        <p:nvSpPr>
          <p:cNvPr id="5" name="Text 0"/>
          <p:cNvSpPr/>
          <p:nvPr>
            <p:ph idx="101" type="title" hasCustomPrompt="1"/>
          </p:nvPr>
        </p:nvSpPr>
        <p:spPr>
          <a:xfrm>
            <a:off x="713232" y="1389888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spc="-50" kern="0" dirty="0">
                <a:solidFill>
                  <a:schemeClr val="tx1"/>
                </a:solidFill>
              </a:rPr>
              <a:t>Стойки с антеннами O3+</a:t>
            </a:r>
            <a:endParaRPr lang="en-US" sz="2400" dirty="0"/>
          </a:p>
        </p:txBody>
      </p:sp>
      <p:sp>
        <p:nvSpPr>
          <p:cNvPr id="6" name="Text 0"/>
          <p:cNvSpPr/>
          <p:nvPr>
            <p:ph idx="102" type="body" hasCustomPrompt="1"/>
          </p:nvPr>
        </p:nvSpPr>
        <p:spPr>
          <a:xfrm>
            <a:off x="713232" y="2286000"/>
            <a:ext cx="32004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chemeClr val="tx2"/>
                </a:solidFill>
              </a:rPr>
              <a:t>Передние стойки держат дрон на земле, а внутри них спрятаны антенны. Они передают на пульт живое видео и принимают команды пилота.</a:t>
            </a:r>
            <a:endParaRPr lang="en-US" sz="1400" dirty="0"/>
          </a:p>
        </p:txBody>
      </p:sp>
      <p:sp>
        <p:nvSpPr>
          <p:cNvPr id="7" name="Text 0"/>
          <p:cNvSpPr/>
          <p:nvPr>
            <p:ph idx="103" type="body" hasCustomPrompt="1"/>
          </p:nvPr>
        </p:nvSpPr>
        <p:spPr>
          <a:xfrm>
            <a:off x="713232" y="365760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2"/>
                </a:solidFill>
              </a:rPr>
              <a:t>DJI O3+ · до 15 км (FCC) / 8 км (CE)</a:t>
            </a: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400">
        <p159:morph option="byObject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!!model" descr="DJI Mavic 3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!!card"/>
          <p:cNvSpPr/>
          <p:nvPr/>
        </p:nvSpPr>
        <p:spPr>
          <a:xfrm>
            <a:off x="457200" y="914400"/>
            <a:ext cx="3703320" cy="3310128"/>
          </a:xfrm>
          <a:prstGeom prst="roundRect">
            <a:avLst>
              <a:gd name="adj" fmla="val 5525"/>
            </a:avLst>
          </a:prstGeom>
          <a:solidFill>
            <a:srgbClr val="FFFFFF">
              <a:alpha val="92000"/>
            </a:srgbClr>
          </a:solidFill>
          <a:ln w="9525">
            <a:solidFill>
              <a:srgbClr val="E8E8ED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8000"/>
              </a:srgbClr>
            </a:outerShdw>
          </a:effectLst>
        </p:spPr>
      </p:sp>
      <p:sp>
        <p:nvSpPr>
          <p:cNvPr id="4" name="Text 0"/>
          <p:cNvSpPr/>
          <p:nvPr>
            <p:ph idx="100" type="body" hasCustomPrompt="1"/>
          </p:nvPr>
        </p:nvSpPr>
        <p:spPr>
          <a:xfrm>
            <a:off x="713232" y="10972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Дрон · деталь 10 из 10</a:t>
            </a:r>
            <a:endParaRPr lang="en-US" sz="1200" dirty="0"/>
          </a:p>
        </p:txBody>
      </p:sp>
      <p:sp>
        <p:nvSpPr>
          <p:cNvPr id="5" name="Text 0"/>
          <p:cNvSpPr/>
          <p:nvPr>
            <p:ph idx="101" type="title" hasCustomPrompt="1"/>
          </p:nvPr>
        </p:nvSpPr>
        <p:spPr>
          <a:xfrm>
            <a:off x="713232" y="1389888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spc="-50" kern="0" dirty="0">
                <a:solidFill>
                  <a:schemeClr val="tx1"/>
                </a:solidFill>
              </a:rPr>
              <a:t>Нижние датчики</a:t>
            </a:r>
            <a:endParaRPr lang="en-US" sz="2400" dirty="0"/>
          </a:p>
        </p:txBody>
      </p:sp>
      <p:sp>
        <p:nvSpPr>
          <p:cNvPr id="6" name="Text 0"/>
          <p:cNvSpPr/>
          <p:nvPr>
            <p:ph idx="102" type="body" hasCustomPrompt="1"/>
          </p:nvPr>
        </p:nvSpPr>
        <p:spPr>
          <a:xfrm>
            <a:off x="713232" y="2286000"/>
            <a:ext cx="32004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chemeClr val="tx2"/>
                </a:solidFill>
              </a:rPr>
              <a:t>Камеры и инфракрасный датчик под корпусом измеряют высоту над землёй, помогают зависать без GPS и мягко садиться.</a:t>
            </a:r>
            <a:endParaRPr lang="en-US" sz="1400" dirty="0"/>
          </a:p>
        </p:txBody>
      </p:sp>
      <p:sp>
        <p:nvSpPr>
          <p:cNvPr id="7" name="Text 0"/>
          <p:cNvSpPr/>
          <p:nvPr>
            <p:ph idx="103" type="body" hasCustomPrompt="1"/>
          </p:nvPr>
        </p:nvSpPr>
        <p:spPr>
          <a:xfrm>
            <a:off x="713232" y="365760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2"/>
                </a:solidFill>
              </a:rPr>
              <a:t>Вниз 0,3–18 м · ИК-датчик</a:t>
            </a: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400">
        <p159:morph option="byObject"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!!model" descr="DJI Mavic 3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0" type="body" hasCustomPrompt="1"/>
          </p:nvPr>
        </p:nvSpPr>
        <p:spPr>
          <a:xfrm>
            <a:off x="1371600" y="4114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Обычный режим полёта</a:t>
            </a:r>
            <a:endParaRPr lang="en-US" sz="1300" dirty="0"/>
          </a:p>
        </p:txBody>
      </p:sp>
      <p:sp>
        <p:nvSpPr>
          <p:cNvPr id="4" name="Text 0"/>
          <p:cNvSpPr/>
          <p:nvPr>
            <p:ph idx="101" type="title" hasCustomPrompt="1"/>
          </p:nvPr>
        </p:nvSpPr>
        <p:spPr>
          <a:xfrm>
            <a:off x="914400" y="713232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ctr" indent="0" marL="0">
              <a:buNone/>
            </a:pPr>
            <a:r>
              <a:rPr lang="en-US" sz="4000" b="1" spc="-100" kern="0" dirty="0">
                <a:solidFill>
                  <a:srgbClr val="FFFFFF"/>
                </a:solidFill>
              </a:rPr>
              <a:t>Полёт над горами</a:t>
            </a:r>
            <a:endParaRPr lang="en-US" sz="4000" dirty="0"/>
          </a:p>
        </p:txBody>
      </p:sp>
      <p:sp>
        <p:nvSpPr>
          <p:cNvPr id="5" name="Text 0"/>
          <p:cNvSpPr/>
          <p:nvPr>
            <p:ph idx="102" type="body" hasCustomPrompt="1"/>
          </p:nvPr>
        </p:nvSpPr>
        <p:spPr>
          <a:xfrm>
            <a:off x="2011680" y="146304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Держит точку по спутникам, облетает препятствия сам и возвращается домой, если сигнал пропал или садится батарея.</a:t>
            </a:r>
            <a:endParaRPr lang="en-US" sz="14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400">
        <p159:morph option="byObject"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!!model" descr="DJI Mavic 3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!!card"/>
          <p:cNvSpPr/>
          <p:nvPr/>
        </p:nvSpPr>
        <p:spPr>
          <a:xfrm>
            <a:off x="457200" y="914400"/>
            <a:ext cx="3703320" cy="3310128"/>
          </a:xfrm>
          <a:prstGeom prst="roundRect">
            <a:avLst>
              <a:gd name="adj" fmla="val 5525"/>
            </a:avLst>
          </a:prstGeom>
          <a:solidFill>
            <a:srgbClr val="FFFFFF">
              <a:alpha val="92000"/>
            </a:srgbClr>
          </a:solidFill>
          <a:ln w="9525">
            <a:solidFill>
              <a:srgbClr val="E8E8ED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8000"/>
              </a:srgbClr>
            </a:outerShdw>
          </a:effectLst>
        </p:spPr>
      </p:sp>
      <p:sp>
        <p:nvSpPr>
          <p:cNvPr id="4" name="Text 0"/>
          <p:cNvSpPr/>
          <p:nvPr>
            <p:ph idx="100" type="body" hasCustomPrompt="1"/>
          </p:nvPr>
        </p:nvSpPr>
        <p:spPr>
          <a:xfrm>
            <a:off x="713232" y="10972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Вот он весь, по деталям</a:t>
            </a:r>
            <a:endParaRPr lang="en-US" sz="1200" dirty="0"/>
          </a:p>
        </p:txBody>
      </p:sp>
      <p:sp>
        <p:nvSpPr>
          <p:cNvPr id="5" name="Text 0"/>
          <p:cNvSpPr/>
          <p:nvPr>
            <p:ph idx="101" type="title" hasCustomPrompt="1"/>
          </p:nvPr>
        </p:nvSpPr>
        <p:spPr>
          <a:xfrm>
            <a:off x="713232" y="1389888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spc="-50" kern="0" dirty="0">
                <a:solidFill>
                  <a:schemeClr val="tx1"/>
                </a:solidFill>
              </a:rPr>
              <a:t>Mavic 3 в разборе</a:t>
            </a:r>
            <a:endParaRPr lang="en-US" sz="2400" dirty="0"/>
          </a:p>
        </p:txBody>
      </p:sp>
      <p:sp>
        <p:nvSpPr>
          <p:cNvPr id="6" name="Text 0"/>
          <p:cNvSpPr/>
          <p:nvPr>
            <p:ph idx="102" type="body" hasCustomPrompt="1"/>
          </p:nvPr>
        </p:nvSpPr>
        <p:spPr>
          <a:xfrm>
            <a:off x="713232" y="2286000"/>
            <a:ext cx="32004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chemeClr val="tx2"/>
                </a:solidFill>
              </a:rPr>
              <a:t>Камера, подвес, корпус, аккумулятор, лучи, моторы, винты и датчики работают вместе, чтобы дрон летал стабильно и снимал качественное видео.</a:t>
            </a:r>
            <a:endParaRPr lang="en-US" sz="1400" dirty="0"/>
          </a:p>
        </p:txBody>
      </p:sp>
      <p:sp>
        <p:nvSpPr>
          <p:cNvPr id="7" name="Text 0"/>
          <p:cNvSpPr/>
          <p:nvPr>
            <p:ph idx="103" type="body" hasCustomPrompt="1"/>
          </p:nvPr>
        </p:nvSpPr>
        <p:spPr>
          <a:xfrm>
            <a:off x="713232" y="365760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2"/>
                </a:solidFill>
              </a:rPr>
              <a:t>3D-модель: «DJI Mavic 3» (llirikslon), Sketchfab</a:t>
            </a: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4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Mavic 3">
  <a:themeElements>
    <a:clrScheme name="Mavic 3">
      <a:dk1>
        <a:srgbClr val="1D1D1F"/>
      </a:dk1>
      <a:lt1>
        <a:srgbClr val="FFFFFF"/>
      </a:lt1>
      <a:dk2>
        <a:srgbClr val="424245"/>
      </a:dk2>
      <a:lt2>
        <a:srgbClr val="F5F5F7"/>
      </a:lt2>
      <a:accent1>
        <a:srgbClr val="1D1D1F"/>
      </a:accent1>
      <a:accent2>
        <a:srgbClr val="6E6E73"/>
      </a:accent2>
      <a:accent3>
        <a:srgbClr val="86868B"/>
      </a:accent3>
      <a:accent4>
        <a:srgbClr val="D2D2D7"/>
      </a:accent4>
      <a:accent5>
        <a:srgbClr val="E8E8ED"/>
      </a:accent5>
      <a:accent6>
        <a:srgbClr val="0F0F10"/>
      </a:accent6>
      <a:hlink>
        <a:srgbClr val="1D1D1F"/>
      </a:hlink>
      <a:folHlink>
        <a:srgbClr val="6E6E73"/>
      </a:folHlink>
    </a:clrScheme>
    <a:fontScheme name="Mavic 3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Mavic 3: как устроен дрон</dc:title>
  <dc:subject>PptxGenJS Presentation</dc:subject>
  <dc:creator>Кондратьев И.И.</dc:creator>
  <cp:lastModifiedBy>Кондратьев И.И.</cp:lastModifiedBy>
  <cp:revision>1</cp:revision>
  <dcterms:created xsi:type="dcterms:W3CDTF">2026-10-28T07:40:01Z</dcterms:created>
  <dcterms:modified xsi:type="dcterms:W3CDTF">2026-10-28T07:40:01Z</dcterms:modified>
</cp:coreProperties>
</file>